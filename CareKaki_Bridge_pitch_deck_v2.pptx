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1D7FF"/>
                </a:solidFill>
                <a:latin typeface="Aptos"/>
              </a:defRPr>
            </a:pPr>
            <a:r>
              <a:t>SPARKX⁺CHANGE · ALEXANDRA HOSPITAL CAREGIVER RESPITE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 b="1">
                <a:solidFill>
                  <a:srgbClr val="FFFFFF"/>
                </a:solidFill>
                <a:latin typeface="Aptos Display"/>
              </a:defRPr>
            </a:pPr>
            <a:r>
              <a:t>CareKaki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7315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D7ECFF"/>
                </a:solidFill>
                <a:latin typeface="Aptos"/>
              </a:defRPr>
            </a:pPr>
            <a:r>
              <a:t>Silent-help task marketplace for male caregivers and trained student volunteers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788920"/>
            <a:ext cx="4846320" cy="384048"/>
          </a:xfrm>
          <a:prstGeom prst="roundRect">
            <a:avLst/>
          </a:prstGeom>
          <a:solidFill>
            <a:srgbClr val="71D7FF"/>
          </a:solidFill>
          <a:ln>
            <a:solidFill>
              <a:srgbClr val="71D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81829"/>
                </a:solidFill>
              </a:defRPr>
            </a:pPr>
            <a:r>
              <a:t>Post one task · claim one task · generate one AH-safe receipt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914400"/>
            <a:ext cx="42976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0" y="914400"/>
            <a:ext cx="73152" cy="2194560"/>
          </a:xfrm>
          <a:prstGeom prst="rect">
            <a:avLst/>
          </a:prstGeom>
          <a:solidFill>
            <a:srgbClr val="71D7FF"/>
          </a:solidFill>
          <a:ln>
            <a:solidFill>
              <a:srgbClr val="71D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1078992"/>
            <a:ext cx="3977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10-second demo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33488" y="1517904"/>
            <a:ext cx="3977640" cy="1417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Need help → post Silent Task → student claims → task completed → receipt + escalation record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3383280"/>
            <a:ext cx="429768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0" y="3383280"/>
            <a:ext cx="73152" cy="2148840"/>
          </a:xfrm>
          <a:prstGeom prst="rect">
            <a:avLst/>
          </a:prstGeom>
          <a:solidFill>
            <a:srgbClr val="71D7FF"/>
          </a:solidFill>
          <a:ln>
            <a:solidFill>
              <a:srgbClr val="71D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3547872"/>
            <a:ext cx="3977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Final team direction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3986784"/>
            <a:ext cx="39776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TaskRabbit-adjacent app, Silent Task option, different task categories, VIA/reward incentives, weighted points by difficulty.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45DA0"/>
                </a:solidFill>
                <a:latin typeface="Aptos"/>
              </a:defRPr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81829"/>
                </a:solidFill>
                <a:latin typeface="Aptos Display"/>
              </a:defRPr>
            </a:pPr>
            <a:r>
              <a:t>Caregivers know help exists, but still do not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664208"/>
            <a:ext cx="79552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576F86"/>
                </a:solidFill>
                <a:latin typeface="Aptos"/>
              </a:defRPr>
            </a:pPr>
            <a:r>
              <a:t>The gap is not only information. It is activation friction: shame, cost, effort, uncertainty, and lack of one clear next action.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73152" cy="1828800"/>
          </a:xfrm>
          <a:prstGeom prst="rect">
            <a:avLst/>
          </a:prstGeom>
          <a:solidFill>
            <a:srgbClr val="B45B19"/>
          </a:solidFill>
          <a:ln>
            <a:solidFill>
              <a:srgbClr val="B45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496312"/>
            <a:ext cx="3154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Respite awareness ≠ respite usage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35224"/>
            <a:ext cx="3154679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SMU ROSA: only 50.09% of caregivers knew of respite resources; 82.83% of those aware had never used respite.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233172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2331720"/>
            <a:ext cx="73152" cy="182880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496312"/>
            <a:ext cx="3154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Care load is heavy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935224"/>
            <a:ext cx="3154679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Duke-NUS CARE TraCE: primary caregivers averaged 33 care hours/week; about 26% had no family/MDW help; only 5% attended caregiver training.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33172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2331720"/>
            <a:ext cx="73152" cy="1828800"/>
          </a:xfrm>
          <a:prstGeom prst="rect">
            <a:avLst/>
          </a:prstGeom>
          <a:solidFill>
            <a:srgbClr val="218047"/>
          </a:solidFill>
          <a:ln>
            <a:solidFill>
              <a:srgbClr val="21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496312"/>
            <a:ext cx="3154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Asking is emotionally expensive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935224"/>
            <a:ext cx="3154679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CNA reported caregivers may hold back because of stigma, duty/filial piety, and not identifying themselves as caregivers.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983480"/>
            <a:ext cx="10149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81829"/>
                </a:solidFill>
                <a:latin typeface="Aptos"/>
              </a:defRPr>
            </a:pPr>
            <a:r>
              <a:t>Insight: make help feel like a concrete task, not a confession of burnout.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45DA0"/>
                </a:solidFill>
                <a:latin typeface="Aptos"/>
              </a:defRPr>
            </a:pPr>
            <a:r>
              <a:t>USER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81829"/>
                </a:solidFill>
                <a:latin typeface="Aptos Display"/>
              </a:defRPr>
            </a:pPr>
            <a:r>
              <a:t>Male caregivers need help that protects competence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664208"/>
            <a:ext cx="79552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576F86"/>
                </a:solidFill>
                <a:latin typeface="Aptos"/>
              </a:defRPr>
            </a:pPr>
            <a:r>
              <a:t>Research suggests male caregivers engage better with practical, flexible, solution-oriented support.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0312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103120"/>
            <a:ext cx="73152" cy="201168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267712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Practical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706624"/>
            <a:ext cx="306324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A 2025 male caregiver scoping review recommends solution-oriented, practical language over emotion-first help-seeking frames.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10312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2103120"/>
            <a:ext cx="73152" cy="2011680"/>
          </a:xfrm>
          <a:prstGeom prst="rect">
            <a:avLst/>
          </a:prstGeom>
          <a:solidFill>
            <a:srgbClr val="B45B19"/>
          </a:solidFill>
          <a:ln>
            <a:solidFill>
              <a:srgbClr val="B45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2267712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Control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706624"/>
            <a:ext cx="306324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Male carers may fear perceived failure or loss of control. CareKaki lets them choose task, silence level, timing, and helper.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210312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2103120"/>
            <a:ext cx="73152" cy="2011680"/>
          </a:xfrm>
          <a:prstGeom prst="rect">
            <a:avLst/>
          </a:prstGeom>
          <a:solidFill>
            <a:srgbClr val="218047"/>
          </a:solidFill>
          <a:ln>
            <a:solidFill>
              <a:srgbClr val="21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267712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Task-focused 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706624"/>
            <a:ext cx="306324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Male dementia caregiver research finds men often adopt a task-focused approach to gain control over caregiving.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9204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81829"/>
                </a:solidFill>
                <a:latin typeface="Aptos"/>
              </a:defRPr>
            </a:pPr>
            <a:r>
              <a:t>Design principle: “I need one task done” is easier to say than “I need emotional support.”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45DA0"/>
                </a:solidFill>
                <a:latin typeface="Aptos"/>
              </a:defRPr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81829"/>
                </a:solidFill>
                <a:latin typeface="Aptos Display"/>
              </a:defRPr>
            </a:pPr>
            <a:r>
              <a:t>CareKaki Bridge: Silent Task marketplace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664208"/>
            <a:ext cx="79552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576F86"/>
                </a:solidFill>
                <a:latin typeface="Aptos"/>
              </a:defRPr>
            </a:pPr>
            <a:r>
              <a:t>Male caregivers post scoped, non-clinical tasks. Trained students claim them for VIA hours, points, and verified care-service receipts.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34747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73152" cy="219456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221992"/>
            <a:ext cx="3154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Caregiver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660904"/>
            <a:ext cx="3154679" cy="1417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Post help requests, choose category, turn on Silent Task mode, set no-call/no-chat preferences, track completion.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2057400"/>
            <a:ext cx="34747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2057400"/>
            <a:ext cx="73152" cy="2194560"/>
          </a:xfrm>
          <a:prstGeom prst="rect">
            <a:avLst/>
          </a:prstGeom>
          <a:solidFill>
            <a:srgbClr val="218047"/>
          </a:solidFill>
          <a:ln>
            <a:solidFill>
              <a:srgbClr val="21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221992"/>
            <a:ext cx="3154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Volunteer 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60904"/>
            <a:ext cx="3154679" cy="1417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Students pick OTOT tasks by category, difficulty, location, time, and points/VIA hours.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057400"/>
            <a:ext cx="34747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2057400"/>
            <a:ext cx="73152" cy="2194560"/>
          </a:xfrm>
          <a:prstGeom prst="rect">
            <a:avLst/>
          </a:prstGeom>
          <a:solidFill>
            <a:srgbClr val="B45B19"/>
          </a:solidFill>
          <a:ln>
            <a:solidFill>
              <a:srgbClr val="B45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221992"/>
            <a:ext cx="3154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AH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660904"/>
            <a:ext cx="3154679" cy="1417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Staff see task receipts, accepted/declined support, clinical escalations, and follow-up owners.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919472"/>
            <a:ext cx="10149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 b="1">
                <a:solidFill>
                  <a:srgbClr val="081829"/>
                </a:solidFill>
                <a:latin typeface="Aptos"/>
              </a:defRPr>
            </a:pPr>
            <a:r>
              <a:t>Positioning: practical respite between “formal services exist” and “I need help tonight.”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45DA0"/>
                </a:solidFill>
                <a:latin typeface="Aptos"/>
              </a:defRPr>
            </a:pPr>
            <a:r>
              <a:t>CORE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81829"/>
                </a:solidFill>
                <a:latin typeface="Aptos Display"/>
              </a:defRPr>
            </a:pPr>
            <a:r>
              <a:t>One silent request becomes measurable relief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664208"/>
            <a:ext cx="79552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576F86"/>
                </a:solidFill>
                <a:latin typeface="Aptos"/>
              </a:defRPr>
            </a:pPr>
            <a:r>
              <a:t>This is the live demo path judges can understand in 10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48840"/>
            <a:ext cx="502920" cy="384048"/>
          </a:xfrm>
          <a:prstGeom prst="roundRect">
            <a:avLst/>
          </a:prstGeom>
          <a:solidFill>
            <a:srgbClr val="71D7FF"/>
          </a:solidFill>
          <a:ln>
            <a:solidFill>
              <a:srgbClr val="71D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81829"/>
                </a:solidFill>
              </a:defRPr>
            </a:pPr>
            <a: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9748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697480"/>
            <a:ext cx="73152" cy="141732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862072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Caregiver posts task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300984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e.g. “pick up discharge supplies”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39" y="2148840"/>
            <a:ext cx="502920" cy="384048"/>
          </a:xfrm>
          <a:prstGeom prst="roundRect">
            <a:avLst/>
          </a:prstGeom>
          <a:solidFill>
            <a:srgbClr val="71D7FF"/>
          </a:solidFill>
          <a:ln>
            <a:solidFill>
              <a:srgbClr val="71D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81829"/>
                </a:solidFill>
              </a:defRPr>
            </a:pPr>
            <a: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269748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39" y="2697480"/>
            <a:ext cx="73152" cy="1417320"/>
          </a:xfrm>
          <a:prstGeom prst="rect">
            <a:avLst/>
          </a:prstGeom>
          <a:solidFill>
            <a:srgbClr val="218047"/>
          </a:solidFill>
          <a:ln>
            <a:solidFill>
              <a:srgbClr val="21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2862072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Silent mode lowers paisehness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3300984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no phone call, minimal explanation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59" y="2148840"/>
            <a:ext cx="502920" cy="384048"/>
          </a:xfrm>
          <a:prstGeom prst="roundRect">
            <a:avLst/>
          </a:prstGeom>
          <a:solidFill>
            <a:srgbClr val="71D7FF"/>
          </a:solidFill>
          <a:ln>
            <a:solidFill>
              <a:srgbClr val="71D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81829"/>
                </a:solidFill>
              </a:defRPr>
            </a:pPr>
            <a: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59" y="269748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66359" y="2697480"/>
            <a:ext cx="73152" cy="141732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7" y="2862072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Volunteer claims task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7527" y="3300984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matched by skill/category/time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2148840"/>
            <a:ext cx="502920" cy="384048"/>
          </a:xfrm>
          <a:prstGeom prst="roundRect">
            <a:avLst/>
          </a:prstGeom>
          <a:solidFill>
            <a:srgbClr val="71D7FF"/>
          </a:solidFill>
          <a:ln>
            <a:solidFill>
              <a:srgbClr val="71D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81829"/>
                </a:solidFill>
              </a:defRPr>
            </a:pPr>
            <a: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269748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2697480"/>
            <a:ext cx="73152" cy="1417320"/>
          </a:xfrm>
          <a:prstGeom prst="rect">
            <a:avLst/>
          </a:prstGeom>
          <a:solidFill>
            <a:srgbClr val="218047"/>
          </a:solidFill>
          <a:ln>
            <a:solidFill>
              <a:srgbClr val="21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9248" y="2862072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Safety gate checks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9248" y="3300984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clinical issues escalated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29800" y="2148840"/>
            <a:ext cx="502920" cy="384048"/>
          </a:xfrm>
          <a:prstGeom prst="roundRect">
            <a:avLst/>
          </a:prstGeom>
          <a:solidFill>
            <a:srgbClr val="71D7FF"/>
          </a:solidFill>
          <a:ln>
            <a:solidFill>
              <a:srgbClr val="71D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81829"/>
                </a:solidFill>
              </a:defRPr>
            </a:pPr>
            <a: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69748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29800" y="2697480"/>
            <a:ext cx="73152" cy="141732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30968" y="2862072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Receipt generated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30968" y="3300984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points, VIA, AH follow-up record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07492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81829"/>
                </a:solidFill>
                <a:latin typeface="Aptos"/>
              </a:defRPr>
            </a:pPr>
            <a:r>
              <a:t>Metric story: silent tasks accepted · micro-respite hours delivered · clinical advice violations = 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45DA0"/>
                </a:solidFill>
                <a:latin typeface="Aptos"/>
              </a:defRPr>
            </a:pPr>
            <a:r>
              <a:t>PRODUCT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81829"/>
                </a:solidFill>
                <a:latin typeface="Aptos Display"/>
              </a:defRPr>
            </a:pPr>
            <a:r>
              <a:t>Different tasks for different student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664208"/>
            <a:ext cx="79552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576F86"/>
                </a:solidFill>
                <a:latin typeface="Aptos"/>
              </a:defRPr>
            </a:pPr>
            <a:r>
              <a:t>The app is not “volunteers do everything”. It is a scoped matching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246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73152" cy="114300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176272"/>
            <a:ext cx="2926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Errands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615184"/>
            <a:ext cx="2926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pharmacy queue, supplies, meals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11680"/>
            <a:ext cx="3246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011680"/>
            <a:ext cx="73152" cy="1143000"/>
          </a:xfrm>
          <a:prstGeom prst="rect">
            <a:avLst/>
          </a:prstGeom>
          <a:solidFill>
            <a:srgbClr val="218047"/>
          </a:solidFill>
          <a:ln>
            <a:solidFill>
              <a:srgbClr val="21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2176272"/>
            <a:ext cx="2926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Transport / escort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615184"/>
            <a:ext cx="2926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wayfinding, AIC Link, clinic route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011680"/>
            <a:ext cx="3246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2011680"/>
            <a:ext cx="73152" cy="1143000"/>
          </a:xfrm>
          <a:prstGeom prst="rect">
            <a:avLst/>
          </a:prstGeom>
          <a:solidFill>
            <a:srgbClr val="B45B19"/>
          </a:solidFill>
          <a:ln>
            <a:solidFill>
              <a:srgbClr val="B45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176272"/>
            <a:ext cx="2926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Tech help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615184"/>
            <a:ext cx="2926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calendar, WhatsApp, teleconsult setup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520440"/>
            <a:ext cx="3246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520440"/>
            <a:ext cx="73152" cy="114300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685032"/>
            <a:ext cx="2926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123944"/>
            <a:ext cx="2926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forms, notes, questions for nurse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520440"/>
            <a:ext cx="3246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3520440"/>
            <a:ext cx="73152" cy="1143000"/>
          </a:xfrm>
          <a:prstGeom prst="rect">
            <a:avLst/>
          </a:prstGeom>
          <a:solidFill>
            <a:srgbClr val="218047"/>
          </a:solidFill>
          <a:ln>
            <a:solidFill>
              <a:srgbClr val="21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3685032"/>
            <a:ext cx="2926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Companionship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123944"/>
            <a:ext cx="2926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walk, coffee, no-pressure check-in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3520440"/>
            <a:ext cx="3246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3520440"/>
            <a:ext cx="73152" cy="1143000"/>
          </a:xfrm>
          <a:prstGeom prst="rect">
            <a:avLst/>
          </a:prstGeom>
          <a:solidFill>
            <a:srgbClr val="B45B19"/>
          </a:solidFill>
          <a:ln>
            <a:solidFill>
              <a:srgbClr val="B45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3685032"/>
            <a:ext cx="2926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Home setup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4123944"/>
            <a:ext cx="2926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non-clinical organisation after discharge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349240"/>
            <a:ext cx="10241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81829"/>
                </a:solidFill>
                <a:latin typeface="Aptos"/>
              </a:defRPr>
            </a:pPr>
            <a:r>
              <a:t>Bigger / less convenient tasks earn more points and VIA hours; unsafe tasks are blocked or escalated.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45DA0"/>
                </a:solidFill>
                <a:latin typeface="Aptos"/>
              </a:defRPr>
            </a:pPr>
            <a:r>
              <a:t>SAFETY AND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81829"/>
                </a:solidFill>
                <a:latin typeface="Aptos Display"/>
              </a:defRPr>
            </a:pPr>
            <a:r>
              <a:t>Volunteers help with tasks, not treatment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664208"/>
            <a:ext cx="79552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576F86"/>
                </a:solidFill>
                <a:latin typeface="Aptos"/>
              </a:defRPr>
            </a:pPr>
            <a:r>
              <a:t>The clinical boundary is a product feature, not a disclaimer.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34747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73152" cy="2011680"/>
          </a:xfrm>
          <a:prstGeom prst="rect">
            <a:avLst/>
          </a:prstGeom>
          <a:solidFill>
            <a:srgbClr val="218047"/>
          </a:solidFill>
          <a:ln>
            <a:solidFill>
              <a:srgbClr val="21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313432"/>
            <a:ext cx="3154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Allowed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52344"/>
            <a:ext cx="3154679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Errands, reminders, meal pickup, wayfinding, form help, companionship, non-clinical tech setup.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2148840"/>
            <a:ext cx="34747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2148840"/>
            <a:ext cx="73152" cy="2011680"/>
          </a:xfrm>
          <a:prstGeom prst="rect">
            <a:avLst/>
          </a:prstGeom>
          <a:solidFill>
            <a:srgbClr val="B45B19"/>
          </a:solidFill>
          <a:ln>
            <a:solidFill>
              <a:srgbClr val="B45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313432"/>
            <a:ext cx="3154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Escalate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52344"/>
            <a:ext cx="3154679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Medication timing, wound care, symptoms, insulin, falls, mental health crisis, diagnosis, clinical interpretation.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148840"/>
            <a:ext cx="34747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2148840"/>
            <a:ext cx="73152" cy="201168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313432"/>
            <a:ext cx="3154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Receipt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752344"/>
            <a:ext cx="3154679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Every task logs owner, action, status, volunteer, points, escalation, follow-up staff/team.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029200"/>
            <a:ext cx="10149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81829"/>
                </a:solidFill>
                <a:latin typeface="Aptos"/>
              </a:defRPr>
            </a:pPr>
            <a:r>
              <a:t>Trust promise: 0 clinical advice by students, 100% task-level accountability.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45DA0"/>
                </a:solidFill>
                <a:latin typeface="Aptos"/>
              </a:defRPr>
            </a:pPr>
            <a:r>
              <a:t>PILOT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81829"/>
                </a:solidFill>
                <a:latin typeface="Aptos Display"/>
              </a:defRPr>
            </a:pPr>
            <a:r>
              <a:t>Start narrow, prove uptake, then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664208"/>
            <a:ext cx="79552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576F86"/>
                </a:solidFill>
                <a:latin typeface="Aptos"/>
              </a:defRPr>
            </a:pPr>
            <a:r>
              <a:t>Six-month AH pilot designed for feasibility and judge credibility.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73152" cy="192024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221992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Pilot 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60904"/>
            <a:ext cx="30632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One ward/discharge route first, e.g. Geriatric Ward 2 or AH-selected caregiver-heavy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05740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2057400"/>
            <a:ext cx="73152" cy="1920240"/>
          </a:xfrm>
          <a:prstGeom prst="rect">
            <a:avLst/>
          </a:prstGeom>
          <a:solidFill>
            <a:srgbClr val="218047"/>
          </a:solidFill>
          <a:ln>
            <a:solidFill>
              <a:srgbClr val="21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2221992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660904"/>
            <a:ext cx="30632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20–30 male/primary caregivers; trained student volunteers; AH nurse/MSW/C3U escalation owners.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205740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2057400"/>
            <a:ext cx="73152" cy="1920240"/>
          </a:xfrm>
          <a:prstGeom prst="rect">
            <a:avLst/>
          </a:prstGeom>
          <a:solidFill>
            <a:srgbClr val="B45B19"/>
          </a:solidFill>
          <a:ln>
            <a:solidFill>
              <a:srgbClr val="B45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221992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Success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660904"/>
            <a:ext cx="30632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Task acceptance, silent-task rate, repeat requests, VIA hours, caregiver confidence, escalation safety, staff feasibility.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81829"/>
                </a:solidFill>
                <a:latin typeface="Aptos"/>
              </a:defRPr>
            </a:pPr>
            <a:r>
              <a:t>First proof target: 30 caregivers, 100 completed non-clinical tasks, 0 volunteer clinical-advice incidents.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45DA0"/>
                </a:solidFill>
                <a:latin typeface="Aptos"/>
              </a:defRPr>
            </a:pPr>
            <a:r>
              <a:t>VOLUNTEER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81829"/>
                </a:solidFill>
                <a:latin typeface="Aptos Display"/>
              </a:defRPr>
            </a:pPr>
            <a:r>
              <a:t>Recruit youth. Train them. Match safely. Recognise real service.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664208"/>
            <a:ext cx="79552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576F86"/>
                </a:solidFill>
                <a:latin typeface="Aptos"/>
              </a:defRPr>
            </a:pPr>
            <a:r>
              <a:t>Volunteer supply is not assumed: CareKaki includes an operating system for recruitment, safeguarding and retention.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6517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73152" cy="214884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221992"/>
            <a:ext cx="2331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1. Recruit + screen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660904"/>
            <a:ext cx="2331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Youth sign up through schools/community partners. Verify availability, motivation and role-fit.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38728" y="2057400"/>
            <a:ext cx="26517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38728" y="2057400"/>
            <a:ext cx="73152" cy="2148840"/>
          </a:xfrm>
          <a:prstGeom prst="rect">
            <a:avLst/>
          </a:prstGeom>
          <a:solidFill>
            <a:srgbClr val="B45B19"/>
          </a:solidFill>
          <a:ln>
            <a:solidFill>
              <a:srgbClr val="B45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39896" y="2221992"/>
            <a:ext cx="2331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2. AH briefing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9896" y="2660904"/>
            <a:ext cx="2331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Confidentiality, respectful communication, no-clinical-advice boundary, incident/escalation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37376" y="2057400"/>
            <a:ext cx="26517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2057400"/>
            <a:ext cx="73152" cy="2148840"/>
          </a:xfrm>
          <a:prstGeom prst="rect">
            <a:avLst/>
          </a:prstGeom>
          <a:solidFill>
            <a:srgbClr val="218047"/>
          </a:solidFill>
          <a:ln>
            <a:solidFill>
              <a:srgbClr val="21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8544" y="2221992"/>
            <a:ext cx="2331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3. Skill-tag + 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8544" y="2660904"/>
            <a:ext cx="2331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Tag tech, errands, escort, admin or companionship; match by time, task scope and readiness.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6024" y="2057400"/>
            <a:ext cx="21945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6024" y="2057400"/>
            <a:ext cx="73152" cy="214884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37192" y="2221992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4. Supervise + retain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2" y="2660904"/>
            <a:ext cx="1874519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Completion receipt, reliability, weekly review, verified VIA hours and portfolio recognition.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56048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 b="1">
                <a:solidFill>
                  <a:srgbClr val="081829"/>
                </a:solidFill>
                <a:latin typeface="Aptos"/>
              </a:defRPr>
            </a:pPr>
            <a:r>
              <a:t>Volunteer outcome: a trusted youth cohort, not an unmoderated task board.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45DA0"/>
                </a:solidFill>
                <a:latin typeface="Aptos"/>
              </a:defRPr>
            </a:pPr>
            <a:r>
              <a:t>PROJECT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81829"/>
                </a:solidFill>
                <a:latin typeface="Aptos Display"/>
              </a:defRPr>
            </a:pPr>
            <a:r>
              <a:t>Operate CareKaki as an AH-linked pilot, not just an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664208"/>
            <a:ext cx="79552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576F86"/>
                </a:solidFill>
                <a:latin typeface="Aptos"/>
              </a:defRPr>
            </a:pPr>
            <a:r>
              <a:t>Named owners, weekly routines, clinical escalation and measurable review keep the programme accountable.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338328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73152" cy="196596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267712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Set-up · Weeks 0–2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06624"/>
            <a:ext cx="3063240" cy="11887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Recruit 20 youth volunteers; finalise safe task list; train; agree AH/C3U escalation owner.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2103120"/>
            <a:ext cx="338328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8" y="2103120"/>
            <a:ext cx="73152" cy="1965960"/>
          </a:xfrm>
          <a:prstGeom prst="rect">
            <a:avLst/>
          </a:prstGeom>
          <a:solidFill>
            <a:srgbClr val="218047"/>
          </a:solidFill>
          <a:ln>
            <a:solidFill>
              <a:srgbClr val="21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267712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Launch · Weeks 3–4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706624"/>
            <a:ext cx="3063240" cy="11887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One ward/discharge route; daily task moderation; receipt review; referral to existing AH/NUHS/AIC support.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74736" y="2103120"/>
            <a:ext cx="338328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74736" y="2103120"/>
            <a:ext cx="73152" cy="1965960"/>
          </a:xfrm>
          <a:prstGeom prst="rect">
            <a:avLst/>
          </a:prstGeom>
          <a:solidFill>
            <a:srgbClr val="B45B19"/>
          </a:solidFill>
          <a:ln>
            <a:solidFill>
              <a:srgbClr val="B45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5904" y="2267712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Learn · Month 2–6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5904" y="2706624"/>
            <a:ext cx="3063240" cy="11887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Weekly ops huddle: uptake, caregiver confidence/stress, repeated use, volunteer retention, incidents and fixes.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9834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081829"/>
                </a:solidFill>
                <a:latin typeface="Aptos"/>
              </a:defRPr>
            </a:pPr>
            <a:r>
              <a:t>CareKaki activates existing support. It does not replace counselling, education programmes or official referral pathways.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1D7FF"/>
                </a:solidFill>
                <a:latin typeface="Aptos"/>
              </a:defRPr>
            </a:pPr>
            <a:r>
              <a:t>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6583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Working web app is already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6583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D7ECFF"/>
                </a:solidFill>
                <a:latin typeface="Aptos"/>
              </a:defRPr>
            </a:pPr>
            <a:r>
              <a:t>GitHub repo: github.com/abelcjh/carekaki-bridge</a:t>
            </a:r>
            <a:br/>
            <a:r>
              <a:t>Live demo: abelcjh.github.io/carekaki-bridge/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880360"/>
            <a:ext cx="498348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80360"/>
            <a:ext cx="73152" cy="1965960"/>
          </a:xfrm>
          <a:prstGeom prst="rect">
            <a:avLst/>
          </a:prstGeom>
          <a:solidFill>
            <a:srgbClr val="71D7FF"/>
          </a:solidFill>
          <a:ln>
            <a:solidFill>
              <a:srgbClr val="71D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044952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Demo actions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483864"/>
            <a:ext cx="4663440" cy="11887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Create Silent Task · claim and complete task · AH-safe clinical flag · volunteer training roster · skill tags · VIA receipt · project milestones.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80360"/>
            <a:ext cx="507492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880360"/>
            <a:ext cx="73152" cy="1965960"/>
          </a:xfrm>
          <a:prstGeom prst="rect">
            <a:avLst/>
          </a:prstGeom>
          <a:solidFill>
            <a:srgbClr val="71D7FF"/>
          </a:solidFill>
          <a:ln>
            <a:solidFill>
              <a:srgbClr val="71D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7" y="3044952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Programme dashboard 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7" y="3483864"/>
            <a:ext cx="4754880" cy="11887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Open requests · trained volunteers ready · Silent Task uptake · VIA hours · task owner/receipt · impact metrics to validate with AH.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45DA0"/>
                </a:solidFill>
                <a:latin typeface="Aptos"/>
              </a:defRPr>
            </a:pPr>
            <a:r>
              <a:t>ASK /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81829"/>
                </a:solidFill>
                <a:latin typeface="Aptos Display"/>
              </a:defRPr>
            </a:pPr>
            <a:r>
              <a:t>Make respite as easy as posting one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664208"/>
            <a:ext cx="79552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576F86"/>
                </a:solidFill>
                <a:latin typeface="Aptos"/>
              </a:defRPr>
            </a:pPr>
            <a:r>
              <a:t>CareKaki Bridge gives AH a practical, measurable, youth-powered way to help male caregivers accept support.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4747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73152" cy="192024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359152"/>
            <a:ext cx="3154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Why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98064"/>
            <a:ext cx="3154679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Care burden is rising, formal-respite uptake is low, and NUHS/AH support needs an easier activation layer.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2194560"/>
            <a:ext cx="34747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2194560"/>
            <a:ext cx="73152" cy="1920240"/>
          </a:xfrm>
          <a:prstGeom prst="rect">
            <a:avLst/>
          </a:prstGeom>
          <a:solidFill>
            <a:srgbClr val="218047"/>
          </a:solidFill>
          <a:ln>
            <a:solidFill>
              <a:srgbClr val="21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359152"/>
            <a:ext cx="3154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Why it is credible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98064"/>
            <a:ext cx="3154679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Bounded youth roles, volunteer management, project owners, official referrals, and measurable impact—not a generic volunteer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194560"/>
            <a:ext cx="34747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2194560"/>
            <a:ext cx="73152" cy="1920240"/>
          </a:xfrm>
          <a:prstGeom prst="rect">
            <a:avLst/>
          </a:prstGeom>
          <a:solidFill>
            <a:srgbClr val="B45B19"/>
          </a:solidFill>
          <a:ln>
            <a:solidFill>
              <a:srgbClr val="B45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359152"/>
            <a:ext cx="31546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1829"/>
                </a:solidFill>
                <a:latin typeface="Aptos"/>
              </a:defRPr>
            </a:pPr>
            <a:r>
              <a:t>What we need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798064"/>
            <a:ext cx="3154679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80" b="0">
                <a:solidFill>
                  <a:srgbClr val="576F86"/>
                </a:solidFill>
                <a:latin typeface="Aptos"/>
              </a:defRPr>
            </a:pPr>
            <a:r>
              <a:t>AH pilot owner, volunteer onboarding partner, safe task list, escalation SOP, and a caregiver feedback/measurement cycle.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07492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81829"/>
                </a:solidFill>
                <a:latin typeface="Aptos Display"/>
              </a:defRPr>
            </a:pPr>
            <a:r>
              <a:t>CareKaki Bridge: silent help, visible relief, managed with care.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