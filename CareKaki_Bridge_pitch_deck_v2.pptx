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E39"/>
          </a:solidFill>
          <a:ln>
            <a:solidFill>
              <a:srgbClr val="253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rekaki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0"/>
            <a:ext cx="55165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75120" y="0"/>
            <a:ext cx="2560320" cy="6858000"/>
          </a:xfrm>
          <a:prstGeom prst="rect">
            <a:avLst/>
          </a:prstGeom>
          <a:solidFill>
            <a:srgbClr val="253E39"/>
          </a:solidFill>
          <a:ln>
            <a:solidFill>
              <a:srgbClr val="253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DCA17E"/>
                </a:solidFill>
                <a:latin typeface="Aptos Mono"/>
              </a:defRPr>
            </a:pPr>
            <a:r>
              <a:t>SPARKX⁺CHANGE · ALEXANDRA HOSPITAL CAREGIVER RESPITE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55778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4800" b="1">
                <a:solidFill>
                  <a:srgbClr val="FFFDF8"/>
                </a:solidFill>
                <a:latin typeface="Aptos Display"/>
              </a:defRPr>
            </a:pPr>
            <a:r>
              <a:t>CareKaki</a:t>
            </a:r>
            <a:br/>
            <a:r>
              <a:t>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4846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FFFDF8"/>
                </a:solidFill>
                <a:latin typeface="Georgia"/>
              </a:defRPr>
            </a:pPr>
            <a:r>
              <a:t>Help, on your own terms.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41648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D9E4DC"/>
                </a:solidFill>
                <a:latin typeface="Aptos Display"/>
              </a:defRPr>
            </a:pPr>
            <a:r>
              <a:t>A quiet, practical way for caregivers to offload one thing today — matched with trained youth volunteers, never clinical care.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138928"/>
            <a:ext cx="3063240" cy="438912"/>
          </a:xfrm>
          <a:prstGeom prst="roundRect">
            <a:avLst/>
          </a:prstGeom>
          <a:solidFill>
            <a:srgbClr val="DCA17E"/>
          </a:solidFill>
          <a:ln>
            <a:solidFill>
              <a:srgbClr val="DCA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266944"/>
            <a:ext cx="2743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253E39"/>
                </a:solidFill>
                <a:latin typeface="Aptos Mono"/>
              </a:defRPr>
            </a:pPr>
            <a:r>
              <a:t>ONE SMALL ASK  ·  VISIBLE RELIEF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722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DCA17E"/>
                </a:solidFill>
                <a:latin typeface="Aptos Mono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THE 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81381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600" b="1">
                <a:solidFill>
                  <a:srgbClr val="19252A"/>
                </a:solidFill>
                <a:latin typeface="Aptos Display"/>
              </a:defRPr>
            </a:pPr>
            <a:r>
              <a:t>Caregivers know help exists.</a:t>
            </a:r>
            <a:br/>
            <a:r>
              <a:t>They still do not use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2542032"/>
            <a:ext cx="4023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A65330"/>
                </a:solidFill>
                <a:latin typeface="Georgia"/>
              </a:defRPr>
            </a:pPr>
            <a:r>
              <a:t>The gap is not information.</a:t>
            </a:r>
            <a:br/>
            <a:r>
              <a:t>It is activation friction.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65576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Shame · effort · cost · uncertainty · no clear next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024128"/>
            <a:ext cx="4956048" cy="4480560"/>
          </a:xfrm>
          <a:prstGeom prst="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4173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THE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847088"/>
            <a:ext cx="22860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253E39"/>
                </a:solidFill>
                <a:latin typeface="Aptos Display"/>
              </a:defRPr>
            </a:pPr>
            <a:r>
              <a:t>50.09%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248716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of caregivers knew respite resources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3044952"/>
            <a:ext cx="4114800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3346704"/>
            <a:ext cx="256032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253E39"/>
                </a:solidFill>
                <a:latin typeface="Aptos Display"/>
              </a:defRPr>
            </a:pPr>
            <a:r>
              <a:t>82.83%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3977639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of those aware had never used respite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910328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50" b="0">
                <a:solidFill>
                  <a:srgbClr val="A65330"/>
                </a:solidFill>
                <a:latin typeface="Aptos Mono"/>
              </a:defRPr>
            </a:pPr>
            <a:r>
              <a:t>SMU ROSA research · caregiver awareness is not activation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CAREKAKI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9DA"/>
          </a:solidFill>
          <a:ln>
            <a:solidFill>
              <a:srgbClr val="DC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7315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19252A"/>
                </a:solidFill>
                <a:latin typeface="Aptos Display"/>
              </a:defRPr>
            </a:pPr>
            <a:r>
              <a:t>Make help feel like</a:t>
            </a:r>
            <a:br/>
            <a:r>
              <a:t>a task — not a confession.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4343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19252A"/>
                </a:solidFill>
                <a:latin typeface="Georgia"/>
              </a:defRPr>
            </a:pPr>
            <a:r>
              <a:t>“I need one thing done”</a:t>
            </a:r>
            <a:br/>
            <a:r>
              <a:t>is easier to say than</a:t>
            </a:r>
            <a:br/>
            <a:r>
              <a:t>“I need emotional support.”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7157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3072384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253E39"/>
                </a:solidFill>
                <a:latin typeface="Aptos Mono"/>
              </a:defRPr>
            </a:pPr>
            <a:r>
              <a:t>PRACTICAL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342900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Use solution-oriented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8664" y="27157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8664" y="3072384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253E39"/>
                </a:solidFill>
                <a:latin typeface="Aptos Mono"/>
              </a:defRPr>
            </a:pPr>
            <a:r>
              <a:t>PRIVATE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8664" y="342900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Let people choose silence and timing.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7157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3072384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253E39"/>
                </a:solidFill>
                <a:latin typeface="Aptos Mono"/>
              </a:defRPr>
            </a:pPr>
            <a:r>
              <a:t>PREDICTABLE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42900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Show exactly what happens next.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CAREKAKI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THE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6035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19252A"/>
                </a:solidFill>
                <a:latin typeface="Aptos Display"/>
              </a:defRPr>
            </a:pPr>
            <a:r>
              <a:t>CareKaki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77266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A65330"/>
                </a:solidFill>
                <a:latin typeface="Georgia"/>
              </a:defRPr>
            </a:pPr>
            <a:r>
              <a:t>A silent-help task layer between “formal services exist” and “I need help tonight.”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2880360"/>
            <a:ext cx="3429000" cy="1920240"/>
          </a:xfrm>
          <a:prstGeom prst="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3172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57530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3E39"/>
                </a:solidFill>
                <a:latin typeface="Aptos Display"/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407822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One bounded non-clinical task.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1" y="2880360"/>
            <a:ext cx="3429000" cy="1920240"/>
          </a:xfrm>
          <a:prstGeom prst="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3172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57530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3E39"/>
                </a:solidFill>
                <a:latin typeface="Aptos Display"/>
              </a:defRPr>
            </a:pPr>
            <a:r>
              <a:t>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407822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A trained volunteer fits skill +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6448" y="2880360"/>
            <a:ext cx="3429000" cy="1920240"/>
          </a:xfrm>
          <a:prstGeom prst="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3172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357530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3E39"/>
                </a:solidFill>
                <a:latin typeface="Aptos Display"/>
              </a:defRPr>
            </a:pPr>
            <a:r>
              <a:t>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407822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A receipt makes relief visible.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40096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CAREGIVER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5340096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VOLUNTEER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5340096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AH / C3U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CAREKAKI BRIDGE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E39"/>
          </a:solidFill>
          <a:ln>
            <a:solidFill>
              <a:srgbClr val="253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DCA17E"/>
                </a:solidFill>
                <a:latin typeface="Aptos Mono"/>
              </a:defRPr>
            </a:pPr>
            <a:r>
              <a:t>THE PRODUCT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32688"/>
            <a:ext cx="6583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FFFDF8"/>
                </a:solidFill>
                <a:latin typeface="Aptos Display"/>
              </a:defRPr>
            </a:pPr>
            <a:r>
              <a:t>Silence is a setting.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874519"/>
            <a:ext cx="3840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FFFDF8"/>
                </a:solidFill>
                <a:latin typeface="Georgia"/>
              </a:defRPr>
            </a:pPr>
            <a:r>
              <a:t>No call needed.</a:t>
            </a:r>
            <a:br/>
            <a:r>
              <a:t>Just message 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82112"/>
            <a:ext cx="42062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D2DED6"/>
                </a:solidFill>
                <a:latin typeface="Aptos Display"/>
              </a:defRPr>
            </a:pPr>
            <a:r>
              <a:t>Silent Task lets a caregiver request practical help without a conversation, explanation, or pressure to perform gratitude.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987552"/>
            <a:ext cx="5074920" cy="4526280"/>
          </a:xfrm>
          <a:prstGeom prst="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35331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CAREGIVER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2" y="1801368"/>
            <a:ext cx="39319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9252A"/>
                </a:solidFill>
                <a:latin typeface="Aptos Display"/>
              </a:defRPr>
            </a:pPr>
            <a:r>
              <a:t>Pick up a simple dinner</a:t>
            </a:r>
            <a:br/>
            <a:r>
              <a:t>and leave it at the ward counter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85432" y="2697480"/>
            <a:ext cx="3840480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2" y="2971800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63706C"/>
                </a:solidFill>
                <a:latin typeface="Aptos Mono"/>
              </a:defRPr>
            </a:pPr>
            <a:r>
              <a:t>ERRANDS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971800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50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85432" y="3511296"/>
            <a:ext cx="3886200" cy="749808"/>
          </a:xfrm>
          <a:prstGeom prst="rect">
            <a:avLst/>
          </a:prstGeom>
          <a:solidFill>
            <a:srgbClr val="DCE9DA"/>
          </a:solidFill>
          <a:ln>
            <a:solidFill>
              <a:srgbClr val="DC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703320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253E39"/>
                </a:solidFill>
                <a:latin typeface="Aptos Mono"/>
              </a:defRPr>
            </a:pPr>
            <a:r>
              <a:t>●   SILENT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941063"/>
            <a:ext cx="29260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80" b="0">
                <a:solidFill>
                  <a:srgbClr val="63706C"/>
                </a:solidFill>
                <a:latin typeface="Aptos Mono"/>
              </a:defRPr>
            </a:pPr>
            <a:r>
              <a:t>NO CALL OR CONVERSATION EXPECTED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85432" y="4626864"/>
            <a:ext cx="3886200" cy="438912"/>
          </a:xfrm>
          <a:prstGeom prst="roundRect">
            <a:avLst/>
          </a:prstGeom>
          <a:solidFill>
            <a:srgbClr val="253E39"/>
          </a:solidFill>
          <a:ln>
            <a:solidFill>
              <a:srgbClr val="253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745736"/>
            <a:ext cx="3886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DF8"/>
                </a:solidFill>
                <a:latin typeface="Aptos Mono"/>
              </a:defRPr>
            </a:pPr>
            <a:r>
              <a:t>PLACE MY REQUEST   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CAREKAKI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9DA"/>
          </a:solidFill>
          <a:ln>
            <a:solidFill>
              <a:srgbClr val="DC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SAFETY IS THE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393192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4000" b="1">
                <a:solidFill>
                  <a:srgbClr val="19252A"/>
                </a:solidFill>
                <a:latin typeface="Aptos Display"/>
              </a:defRPr>
            </a:pPr>
            <a:r>
              <a:t>Warmth needs</a:t>
            </a:r>
            <a:br/>
            <a:r>
              <a:t>clear edges.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1892807"/>
            <a:ext cx="1700784" cy="269748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21945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53E39"/>
                </a:solidFill>
                <a:latin typeface="Georgia"/>
              </a:defRPr>
            </a:pPr>
            <a:r>
              <a:t>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7614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WE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172968"/>
            <a:ext cx="1234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3706C"/>
                </a:solidFill>
                <a:latin typeface="Aptos Display"/>
              </a:defRPr>
            </a:pPr>
            <a:r>
              <a:t>Errands, reminders, meals, wayfinding, forms, companionship and home organisation.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51192" y="1892807"/>
            <a:ext cx="1700784" cy="269748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21945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A65330"/>
                </a:solidFill>
                <a:latin typeface="Georgia"/>
              </a:defRPr>
            </a:pPr>
            <a: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27614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WE DO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3172968"/>
            <a:ext cx="1234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3706C"/>
                </a:solidFill>
                <a:latin typeface="Aptos Display"/>
              </a:defRPr>
            </a:pPr>
            <a:r>
              <a:t>Medication, wound care, lifting, diagnosis, personal care, medical interpretation or crisis support.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27463" y="1892807"/>
            <a:ext cx="1700784" cy="269748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6063" y="21945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53E39"/>
                </a:solidFill>
                <a:latin typeface="Georgia"/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6063" y="27614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WE ESCALATE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3" y="3172968"/>
            <a:ext cx="1234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3706C"/>
                </a:solidFill>
                <a:latin typeface="Aptos Display"/>
              </a:defRPr>
            </a:pPr>
            <a:r>
              <a:t>Every concern has a named AH-linked owner, a clinical route and an accountable receipt.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CAREKAKI BRIDGE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VOLUNTEER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5943600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19252A"/>
                </a:solidFill>
                <a:latin typeface="Aptos Display"/>
              </a:defRPr>
            </a:pPr>
            <a:r>
              <a:t>The supply side is</a:t>
            </a:r>
            <a:br/>
            <a:r>
              <a:t>not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04872"/>
            <a:ext cx="4892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3706C"/>
                </a:solidFill>
                <a:latin typeface="Aptos Display"/>
              </a:defRPr>
            </a:pPr>
            <a:r>
              <a:t>Leading volunteer-management patterns: clear opportunity scopes, screening, skill matching, shift / availability fit, verified hours and feedback loops.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4069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442569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53E39"/>
                </a:solidFill>
                <a:latin typeface="Aptos Mono"/>
              </a:defRPr>
            </a:pPr>
            <a:r>
              <a:t>RECRUIT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4736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3706C"/>
                </a:solidFill>
                <a:latin typeface="Aptos Display"/>
              </a:defRPr>
            </a:pPr>
            <a:r>
              <a:t>role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9424" y="442569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A65330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4069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442569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53E39"/>
                </a:solidFill>
                <a:latin typeface="Aptos Mono"/>
              </a:defRPr>
            </a:pPr>
            <a:r>
              <a:t>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4736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3706C"/>
                </a:solidFill>
                <a:latin typeface="Aptos Display"/>
              </a:defRPr>
            </a:pPr>
            <a:r>
              <a:t>safeguard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442569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A65330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4069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442569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53E39"/>
                </a:solidFill>
                <a:latin typeface="Aptos Mono"/>
              </a:defRPr>
            </a:pPr>
            <a:r>
              <a:t>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4736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3706C"/>
                </a:solidFill>
                <a:latin typeface="Aptos Display"/>
              </a:defRPr>
            </a:pPr>
            <a: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442569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A65330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4069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442569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53E39"/>
                </a:solidFill>
                <a:latin typeface="Aptos Mono"/>
              </a:defRPr>
            </a:pPr>
            <a:r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4736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3706C"/>
                </a:solidFill>
                <a:latin typeface="Aptos Display"/>
              </a:defRPr>
            </a:pPr>
            <a:r>
              <a:t>time +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442569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A65330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6336" y="4069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442569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53E39"/>
                </a:solidFill>
                <a:latin typeface="Aptos Mono"/>
              </a:defRPr>
            </a:pPr>
            <a:r>
              <a:t>RECOGNISE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4736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3706C"/>
                </a:solidFill>
                <a:latin typeface="Aptos Display"/>
              </a:defRPr>
            </a:pPr>
            <a:r>
              <a:t>VIA receipt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CAREKAKI BRIDGE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A17E"/>
          </a:solidFill>
          <a:ln>
            <a:solidFill>
              <a:srgbClr val="DCA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253E39"/>
                </a:solidFill>
                <a:latin typeface="Aptos Mono"/>
              </a:defRPr>
            </a:pPr>
            <a:r>
              <a:t>PILOT: NARROW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4709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4100" b="1">
                <a:solidFill>
                  <a:srgbClr val="19252A"/>
                </a:solidFill>
                <a:latin typeface="Aptos Display"/>
              </a:defRPr>
            </a:pPr>
            <a:r>
              <a:t>Start small.</a:t>
            </a:r>
            <a:br/>
            <a:r>
              <a:t>Learn quickly.</a:t>
            </a:r>
            <a:br/>
            <a:r>
              <a:t>Earn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054096"/>
            <a:ext cx="4023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19252A"/>
                </a:solidFill>
                <a:latin typeface="Georgia"/>
              </a:defRPr>
            </a:pPr>
            <a:r>
              <a:t>One discharge route.</a:t>
            </a:r>
            <a:br/>
            <a:r>
              <a:t>One named operating lead.</a:t>
            </a:r>
            <a:br/>
            <a:r>
              <a:t>One weekly rhythm.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7568" y="1124712"/>
            <a:ext cx="749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53E39"/>
                </a:solidFill>
                <a:latin typeface="Aptos Mono"/>
              </a:defRPr>
            </a:pPr>
            <a:r>
              <a:t>0–2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1968" y="11612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1430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9252A"/>
                </a:solidFill>
                <a:latin typeface="Aptos Display"/>
              </a:defRPr>
            </a:pPr>
            <a:r>
              <a:t>20 youth volunteers · safe task list · escalation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87568" y="1728216"/>
            <a:ext cx="5029200" cy="10972"/>
          </a:xfrm>
          <a:prstGeom prst="rect">
            <a:avLst/>
          </a:prstGeom>
          <a:solidFill>
            <a:srgbClr val="BE8465"/>
          </a:solidFill>
          <a:ln>
            <a:solidFill>
              <a:srgbClr val="BE8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2697480"/>
            <a:ext cx="749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53E39"/>
                </a:solidFill>
                <a:latin typeface="Aptos Mono"/>
              </a:defRPr>
            </a:pPr>
            <a:r>
              <a:t>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734056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271576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9252A"/>
                </a:solidFill>
                <a:latin typeface="Aptos Display"/>
              </a:defRPr>
            </a:pPr>
            <a:r>
              <a:t>one route · daily moderation · completion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87568" y="3300984"/>
            <a:ext cx="5029200" cy="10972"/>
          </a:xfrm>
          <a:prstGeom prst="rect">
            <a:avLst/>
          </a:prstGeom>
          <a:solidFill>
            <a:srgbClr val="BE8465"/>
          </a:solidFill>
          <a:ln>
            <a:solidFill>
              <a:srgbClr val="BE8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4270248"/>
            <a:ext cx="749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53E39"/>
                </a:solidFill>
                <a:latin typeface="Aptos Mono"/>
              </a:defRPr>
            </a:pPr>
            <a:r>
              <a:t>2–6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306824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428853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9252A"/>
                </a:solidFill>
                <a:latin typeface="Aptos Display"/>
              </a:defRPr>
            </a:pPr>
            <a:r>
              <a:t>uptake · confidence · repeat use · incidents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7568" y="4873752"/>
            <a:ext cx="5029200" cy="10972"/>
          </a:xfrm>
          <a:prstGeom prst="rect">
            <a:avLst/>
          </a:prstGeom>
          <a:solidFill>
            <a:srgbClr val="BE8465"/>
          </a:solidFill>
          <a:ln>
            <a:solidFill>
              <a:srgbClr val="BE8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CAREKAKI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WHAT LEADING SYSTEMS TEACH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704088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19252A"/>
                </a:solidFill>
                <a:latin typeface="Aptos Display"/>
              </a:defRPr>
            </a:pPr>
            <a:r>
              <a:t>Trust before choice.</a:t>
            </a:r>
            <a:br/>
            <a:r>
              <a:t>Clarity before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529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52928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CARE MARKETPLACES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834640"/>
            <a:ext cx="7269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50" b="0">
                <a:solidFill>
                  <a:srgbClr val="63706C"/>
                </a:solidFill>
                <a:latin typeface="Aptos Display"/>
              </a:defRPr>
            </a:pPr>
            <a:r>
              <a:t>Pre-filled task templates, visible trust signals and progressive disclosure reduce first-post friction.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2219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22191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VOLUNTEER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803904"/>
            <a:ext cx="7269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50" b="0">
                <a:solidFill>
                  <a:srgbClr val="63706C"/>
                </a:solidFill>
                <a:latin typeface="Aptos Display"/>
              </a:defRPr>
            </a:pPr>
            <a:r>
              <a:t>Skill + time matching, screening, verified service hours and coordinator dashboards make supply dependable.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9145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91456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CAREGIVER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773168"/>
            <a:ext cx="7269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50" b="0">
                <a:solidFill>
                  <a:srgbClr val="63706C"/>
                </a:solidFill>
                <a:latin typeface="Aptos Display"/>
              </a:defRPr>
            </a:pPr>
            <a:r>
              <a:t>Triage, clear boundaries, baseline / closure measures and referral back to professionals protect care quality.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CAREKAKI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E39"/>
          </a:solidFill>
          <a:ln>
            <a:solidFill>
              <a:srgbClr val="253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DCA17E"/>
                </a:solidFill>
                <a:latin typeface="Aptos Mono"/>
              </a:defRPr>
            </a:pPr>
            <a:r>
              <a:t>THE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4000" b="1">
                <a:solidFill>
                  <a:srgbClr val="FFFDF8"/>
                </a:solidFill>
                <a:latin typeface="Aptos Display"/>
              </a:defRPr>
            </a:pPr>
            <a:r>
              <a:t>Relief should be</a:t>
            </a:r>
            <a:br/>
            <a:r>
              <a:t>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523744"/>
            <a:ext cx="4160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FFFDF8"/>
                </a:solidFill>
                <a:latin typeface="Georgia"/>
              </a:defRPr>
            </a:pPr>
            <a:r>
              <a:t>Measure the help</a:t>
            </a:r>
            <a:br/>
            <a:r>
              <a:t>that actually lands.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1371600"/>
            <a:ext cx="2395728" cy="1481328"/>
          </a:xfrm>
          <a:prstGeom prst="rect">
            <a:avLst/>
          </a:prstGeom>
          <a:solidFill>
            <a:srgbClr val="2F4D46"/>
          </a:solidFill>
          <a:ln>
            <a:solidFill>
              <a:srgbClr val="2F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1304" y="16642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DCA17E"/>
                </a:solidFill>
                <a:latin typeface="Aptos Mono"/>
              </a:defRPr>
            </a:pPr>
            <a:r>
              <a:t>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1304" y="2103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DF8"/>
                </a:solidFill>
                <a:latin typeface="Aptos Display"/>
              </a:defRPr>
            </a:pPr>
            <a:r>
              <a:t>accepted + 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1371600"/>
            <a:ext cx="2395728" cy="1481328"/>
          </a:xfrm>
          <a:prstGeom prst="rect">
            <a:avLst/>
          </a:prstGeom>
          <a:solidFill>
            <a:srgbClr val="2F4D46"/>
          </a:solidFill>
          <a:ln>
            <a:solidFill>
              <a:srgbClr val="2F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95944" y="16642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DCA17E"/>
                </a:solidFill>
                <a:latin typeface="Aptos Mono"/>
              </a:defRPr>
            </a:pPr>
            <a:r>
              <a:t>SILENT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103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DF8"/>
                </a:solidFill>
                <a:latin typeface="Aptos Display"/>
              </a:defRPr>
            </a:pPr>
            <a:r>
              <a:t>low-contact uptake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3328416"/>
            <a:ext cx="2395728" cy="1481328"/>
          </a:xfrm>
          <a:prstGeom prst="rect">
            <a:avLst/>
          </a:prstGeom>
          <a:solidFill>
            <a:srgbClr val="2F4D46"/>
          </a:solidFill>
          <a:ln>
            <a:solidFill>
              <a:srgbClr val="2F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61304" y="3621024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DCA17E"/>
                </a:solidFill>
                <a:latin typeface="Aptos Mono"/>
              </a:defRPr>
            </a:pPr>
            <a:r>
              <a:t>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40599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DF8"/>
                </a:solidFill>
                <a:latin typeface="Aptos Display"/>
              </a:defRPr>
            </a:pPr>
            <a:r>
              <a:t>repeat caregiver 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3328416"/>
            <a:ext cx="2395728" cy="1481328"/>
          </a:xfrm>
          <a:prstGeom prst="rect">
            <a:avLst/>
          </a:prstGeom>
          <a:solidFill>
            <a:srgbClr val="2F4D46"/>
          </a:solidFill>
          <a:ln>
            <a:solidFill>
              <a:srgbClr val="2F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3621024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DCA17E"/>
                </a:solidFill>
                <a:latin typeface="Aptos Mono"/>
              </a:defRPr>
            </a:pPr>
            <a: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5944" y="40599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DF8"/>
                </a:solidFill>
                <a:latin typeface="Aptos Display"/>
              </a:defRPr>
            </a:pPr>
            <a:r>
              <a:t>clinical advice incidents =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CAREKAKI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5989320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19252A"/>
                </a:solidFill>
                <a:latin typeface="Aptos Display"/>
              </a:defRPr>
            </a:pPr>
            <a:r>
              <a:t>A working pilot</a:t>
            </a:r>
            <a:br/>
            <a:r>
              <a:t>experience —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2834640"/>
            <a:ext cx="4572000" cy="1298448"/>
          </a:xfrm>
          <a:prstGeom prst="rect">
            <a:avLst/>
          </a:prstGeom>
          <a:solidFill>
            <a:srgbClr val="DCE9DA"/>
          </a:solidFill>
          <a:ln>
            <a:solidFill>
              <a:srgbClr val="DC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7296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POST A SILENT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361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53E39"/>
                </a:solidFill>
                <a:latin typeface="Aptos Display"/>
              </a:defRPr>
            </a:pPr>
            <a:r>
              <a:t>Then claim, complete and record the help.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499616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920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253E39"/>
                </a:solidFill>
                <a:latin typeface="Aptos Display"/>
              </a:defRPr>
            </a:pPr>
            <a:r>
              <a:t>abelcjh.github.io/</a:t>
            </a:r>
            <a:br/>
            <a:r>
              <a:t>carekaki-bridge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3952" y="2926080"/>
            <a:ext cx="4297680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3255264"/>
            <a:ext cx="2331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BUILT INTO THE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639312"/>
            <a:ext cx="431596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3706C"/>
                </a:solidFill>
                <a:latin typeface="Aptos Display"/>
              </a:defRPr>
            </a:pPr>
            <a:r>
              <a:t>Silent Task · moderated task board · safe scope · volunteer recognition · pilot scorecard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CAREKAKI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A17E"/>
          </a:solidFill>
          <a:ln>
            <a:solidFill>
              <a:srgbClr val="DCA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253E39"/>
                </a:solidFill>
                <a:latin typeface="Aptos Mono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7589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4200" b="1">
                <a:solidFill>
                  <a:srgbClr val="19252A"/>
                </a:solidFill>
                <a:latin typeface="Aptos Display"/>
              </a:defRPr>
            </a:pPr>
            <a:r>
              <a:t>Make respite as easy</a:t>
            </a:r>
            <a:br/>
            <a:r>
              <a:t>as posting one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816352"/>
            <a:ext cx="4114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19252A"/>
                </a:solidFill>
                <a:latin typeface="Georgia"/>
              </a:defRPr>
            </a:pPr>
            <a:r>
              <a:t>Silent help.</a:t>
            </a:r>
            <a:br/>
            <a:r>
              <a:t>Visible relief.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1968" y="274320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9252A"/>
                </a:solidFill>
                <a:latin typeface="Aptos Mono"/>
              </a:defRPr>
            </a:pPr>
            <a:r>
              <a:t>To pilot well, we need: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1968" y="3200400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032" y="317296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9252A"/>
                </a:solidFill>
                <a:latin typeface="Aptos Display"/>
              </a:defRPr>
            </a:pPr>
            <a:r>
              <a:t>an AH pilot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3639312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2" y="3611880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9252A"/>
                </a:solidFill>
                <a:latin typeface="Aptos Display"/>
              </a:defRPr>
            </a:pPr>
            <a:r>
              <a:t>a safe task list + escalation 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4078224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4050791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9252A"/>
                </a:solidFill>
                <a:latin typeface="Aptos Display"/>
              </a:defRPr>
            </a:pPr>
            <a:r>
              <a:t>a youth onboarding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4517136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4489703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9252A"/>
                </a:solidFill>
                <a:latin typeface="Aptos Display"/>
              </a:defRPr>
            </a:pPr>
            <a:r>
              <a:t>a caregiver feedback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1792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253E39"/>
                </a:solidFill>
                <a:latin typeface="Aptos Mono"/>
              </a:defRPr>
            </a:pPr>
            <a:r>
              <a:t>CAREKAKI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21792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253E39"/>
                </a:solidFill>
                <a:latin typeface="Aptos Mon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